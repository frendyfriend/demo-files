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Japan Chess Association</a:t>
            </a:r>
          </a:p>
          <a:p>
            <a:r>
              <a:t>Website Upgrade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DAA520"/>
                </a:solidFill>
              </a:defRPr>
            </a:pPr>
            <a:r>
              <a:t>Modernizing JCA's Digital Infrastructure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C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Current State: JCA website provides basic information but lacks dynamic database functionality</a:t>
            </a:r>
          </a:p>
          <a:p>
            <a:pPr>
              <a:spcAft>
                <a:spcPts val="1200"/>
              </a:spcAft>
              <a:defRPr sz="1800"/>
            </a:pPr>
            <a:r>
              <a:t>• Benchmark: US Chess and international federations offer comprehensive player databases, search, and analytics</a:t>
            </a:r>
          </a:p>
          <a:p>
            <a:pPr>
              <a:spcAft>
                <a:spcPts val="1200"/>
              </a:spcAft>
              <a:defRPr sz="1800"/>
            </a:pPr>
            <a:r>
              <a:t>• Key Gap: No searchable player database, rating history, or tournament cross-tables</a:t>
            </a:r>
          </a:p>
          <a:p>
            <a:pPr>
              <a:spcAft>
                <a:spcPts val="1200"/>
              </a:spcAft>
              <a:defRPr sz="1800"/>
            </a:pPr>
            <a:r>
              <a:t>• Impact: Players cannot track their progress; organizers lack modern tools</a:t>
            </a:r>
          </a:p>
          <a:p>
            <a:pPr>
              <a:spcAft>
                <a:spcPts val="1200"/>
              </a:spcAft>
              <a:defRPr sz="1800"/>
            </a:pPr>
            <a:r>
              <a:t>• Recommendation: Phased implementation starting with player database and search</a:t>
            </a:r>
          </a:p>
          <a:p>
            <a:pPr>
              <a:spcAft>
                <a:spcPts val="1200"/>
              </a:spcAft>
              <a:defRPr sz="1800"/>
            </a:pPr>
            <a:r>
              <a:t>• Investment: $85K-115K over 16 months for core features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C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Japan Chess Association: Current Strengths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✅ Bilingual Support: Full Japanese and English versions</a:t>
            </a:r>
          </a:p>
          <a:p>
            <a:pPr>
              <a:spcAft>
                <a:spcPts val="1200"/>
              </a:spcAft>
              <a:defRPr sz="1800"/>
            </a:pPr>
            <a:r>
              <a:t>✅ Comprehensive Content: Tournament calendars, news, educational materials</a:t>
            </a:r>
          </a:p>
          <a:p>
            <a:pPr>
              <a:spcAft>
                <a:spcPts val="1200"/>
              </a:spcAft>
              <a:defRPr sz="1800"/>
            </a:pPr>
            <a:r>
              <a:t>✅ E-Commerce: Online shop for chess supplies and membership</a:t>
            </a:r>
          </a:p>
          <a:p>
            <a:pPr>
              <a:spcAft>
                <a:spcPts val="1200"/>
              </a:spcAft>
              <a:defRPr sz="1800"/>
            </a:pPr>
            <a:r>
              <a:t>✅ Mobile Responsive: Works on all devices</a:t>
            </a:r>
          </a:p>
          <a:p>
            <a:pPr>
              <a:spcAft>
                <a:spcPts val="1200"/>
              </a:spcAft>
              <a:defRPr sz="1800"/>
            </a:pPr>
            <a:r>
              <a:t>✅ Regular Updates: Active posting of tournament information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Platform: WordPress with TablePress for rating lists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C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Japan Chess Association: Critical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❌ No Player Database: Players only appear in static monthly lists</a:t>
            </a:r>
          </a:p>
          <a:p>
            <a:pPr>
              <a:spcAft>
                <a:spcPts val="1200"/>
              </a:spcAft>
              <a:defRPr sz="1800"/>
            </a:pPr>
            <a:r>
              <a:t>❌ No Search Functionality: Cannot search for specific players or ratings</a:t>
            </a:r>
          </a:p>
          <a:p>
            <a:pPr>
              <a:spcAft>
                <a:spcPts val="1200"/>
              </a:spcAft>
              <a:defRPr sz="1800"/>
            </a:pPr>
            <a:r>
              <a:t>❌ No Rating History: Past ratings not accessible; no graphs or trends</a:t>
            </a:r>
          </a:p>
          <a:p>
            <a:pPr>
              <a:spcAft>
                <a:spcPts val="1200"/>
              </a:spcAft>
              <a:defRPr sz="1800"/>
            </a:pPr>
            <a:r>
              <a:t>❌ No Individual Profiles: No dedicated pages for players</a:t>
            </a:r>
          </a:p>
          <a:p>
            <a:pPr>
              <a:spcAft>
                <a:spcPts val="1200"/>
              </a:spcAft>
              <a:defRPr sz="1800"/>
            </a:pPr>
            <a:r>
              <a:t>❌ No Tournament Cross-Tables: Results not published online</a:t>
            </a:r>
          </a:p>
          <a:p>
            <a:pPr>
              <a:spcAft>
                <a:spcPts val="1200"/>
              </a:spcAft>
              <a:defRPr sz="1800"/>
            </a:pPr>
            <a:r>
              <a:t>❌ Manual Updates: Monthly rating list updates, not real-time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Result: JCA lags behind international federation standards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C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US Chess Federation: Industry 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✅ Advanced Player Search: Name, ID, state, rating range, multi-criteria</a:t>
            </a:r>
          </a:p>
          <a:p>
            <a:pPr>
              <a:spcAft>
                <a:spcPts val="1200"/>
              </a:spcAft>
              <a:defRPr sz="1800"/>
            </a:pPr>
            <a:r>
              <a:t>✅ Individual Player Profiles: Dedicated pages with complete history</a:t>
            </a:r>
          </a:p>
          <a:p>
            <a:pPr>
              <a:spcAft>
                <a:spcPts val="1200"/>
              </a:spcAft>
              <a:defRPr sz="1800"/>
            </a:pPr>
            <a:r>
              <a:t>✅ Rating History Graphs: Interactive visualization of rating progression</a:t>
            </a:r>
          </a:p>
          <a:p>
            <a:pPr>
              <a:spcAft>
                <a:spcPts val="1200"/>
              </a:spcAft>
              <a:defRPr sz="1800"/>
            </a:pPr>
            <a:r>
              <a:t>✅ Tournament History: Complete participation records for each player</a:t>
            </a:r>
          </a:p>
          <a:p>
            <a:pPr>
              <a:spcAft>
                <a:spcPts val="1200"/>
              </a:spcAft>
              <a:defRPr sz="1800"/>
            </a:pPr>
            <a:r>
              <a:t>✅ Cross-Tables Online: Game-by-game results with opponent links</a:t>
            </a:r>
          </a:p>
          <a:p>
            <a:pPr>
              <a:spcAft>
                <a:spcPts val="1200"/>
              </a:spcAft>
              <a:defRPr sz="1800"/>
            </a:pPr>
            <a:r>
              <a:t>✅ Real-Time Updates: Database refreshed regularly after tournaments</a:t>
            </a:r>
          </a:p>
          <a:p>
            <a:pPr>
              <a:spcAft>
                <a:spcPts val="1200"/>
              </a:spcAft>
              <a:defRPr sz="1800"/>
            </a:pPr>
            <a:r>
              <a:t>✅ Statistical Tools: Performance analytics, rating calculators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These features are now standard across major chess federations worldwide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C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Current State: Feature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76809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011680"/>
                <a:gridCol w="2468880"/>
              </a:tblGrid>
              <a:tr h="5080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US Chess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Japan Chess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Player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✅ Advanced</a:t>
                      </a:r>
                    </a:p>
                  </a:txBody>
                  <a:tcPr>
                    <a:solidFill>
                      <a:srgbClr val="C8FF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FFC8C8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Individual Profiles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✅ Complete</a:t>
                      </a:r>
                    </a:p>
                  </a:txBody>
                  <a:tcPr>
                    <a:solidFill>
                      <a:srgbClr val="C8FF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FFC8C8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Rating History Graphs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✅ Interactive</a:t>
                      </a:r>
                    </a:p>
                  </a:txBody>
                  <a:tcPr>
                    <a:solidFill>
                      <a:srgbClr val="C8FF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FFC8C8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Tournament History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✅ Full Archive</a:t>
                      </a:r>
                    </a:p>
                  </a:txBody>
                  <a:tcPr>
                    <a:solidFill>
                      <a:srgbClr val="C8FF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FFC8C8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Cross-Tables Online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✅ Detailed</a:t>
                      </a:r>
                    </a:p>
                  </a:txBody>
                  <a:tcPr>
                    <a:solidFill>
                      <a:srgbClr val="C8FF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FFC8C8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Real-time Updates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✅ Yes</a:t>
                      </a:r>
                    </a:p>
                  </a:txBody>
                  <a:tcPr>
                    <a:solidFill>
                      <a:srgbClr val="C8FF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⚠️ Monthly</a:t>
                      </a:r>
                    </a:p>
                  </a:txBody>
                  <a:tcPr>
                    <a:solidFill>
                      <a:srgbClr val="FFFFC8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Mobile Responsive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✅ Yes</a:t>
                      </a:r>
                    </a:p>
                  </a:txBody>
                  <a:tcPr>
                    <a:solidFill>
                      <a:srgbClr val="C8FF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✅ Yes</a:t>
                      </a:r>
                    </a:p>
                  </a:txBody>
                  <a:tcPr>
                    <a:solidFill>
                      <a:srgbClr val="C8FFC8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Multilingual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⚠️ Limited</a:t>
                      </a:r>
                    </a:p>
                  </a:txBody>
                  <a:tcPr>
                    <a:solidFill>
                      <a:srgbClr val="FFFF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✅ Yes</a:t>
                      </a:r>
                    </a:p>
                  </a:txBody>
                  <a:tcPr>
                    <a:solidFill>
                      <a:srgbClr val="C8FFC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C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Why Modernization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For Players:</a:t>
            </a:r>
          </a:p>
          <a:p>
            <a:pPr>
              <a:spcAft>
                <a:spcPts val="1200"/>
              </a:spcAft>
              <a:defRPr sz="1800"/>
            </a:pPr>
            <a:r>
              <a:t>  • Track rating progress and chess journey over time</a:t>
            </a:r>
          </a:p>
          <a:p>
            <a:pPr>
              <a:spcAft>
                <a:spcPts val="1200"/>
              </a:spcAft>
              <a:defRPr sz="1800"/>
            </a:pPr>
            <a:r>
              <a:t>  • Access complete tournament history and performance data</a:t>
            </a:r>
          </a:p>
          <a:p>
            <a:pPr>
              <a:spcAft>
                <a:spcPts val="1200"/>
              </a:spcAft>
              <a:defRPr sz="1800"/>
            </a:pPr>
            <a:r>
              <a:t>  • Compare with peers and set improvement goals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For Organizers:</a:t>
            </a:r>
          </a:p>
          <a:p>
            <a:pPr>
              <a:spcAft>
                <a:spcPts val="1200"/>
              </a:spcAft>
              <a:defRPr sz="1800"/>
            </a:pPr>
            <a:r>
              <a:t>  • Verify player ratings quickly and accurately</a:t>
            </a:r>
          </a:p>
          <a:p>
            <a:pPr>
              <a:spcAft>
                <a:spcPts val="1200"/>
              </a:spcAft>
              <a:defRPr sz="1800"/>
            </a:pPr>
            <a:r>
              <a:t>  • Access historical data for seeding and planning</a:t>
            </a:r>
          </a:p>
          <a:p>
            <a:pPr>
              <a:spcAft>
                <a:spcPts val="1200"/>
              </a:spcAft>
              <a:defRPr sz="1800"/>
            </a:pPr>
            <a:r>
              <a:t>  • Reduce administrative burden through automation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For JCA:</a:t>
            </a:r>
          </a:p>
          <a:p>
            <a:pPr>
              <a:spcAft>
                <a:spcPts val="1200"/>
              </a:spcAft>
              <a:defRPr sz="1800"/>
            </a:pPr>
            <a:r>
              <a:t>  • Enhance credibility among international federations</a:t>
            </a:r>
          </a:p>
          <a:p>
            <a:pPr>
              <a:spcAft>
                <a:spcPts val="1200"/>
              </a:spcAft>
              <a:defRPr sz="1800"/>
            </a:pPr>
            <a:r>
              <a:t>  • Attract younger, tech-savvy players</a:t>
            </a:r>
          </a:p>
          <a:p>
            <a:pPr>
              <a:spcAft>
                <a:spcPts val="1200"/>
              </a:spcAft>
              <a:defRPr sz="1800"/>
            </a:pPr>
            <a:r>
              <a:t>  • Improve transparency in rating system</a:t>
            </a:r>
          </a:p>
          <a:p>
            <a:pPr>
              <a:spcAft>
                <a:spcPts val="1200"/>
              </a:spcAft>
              <a:defRPr sz="1800"/>
            </a:pPr>
            <a:r>
              <a:t>  • Build stronger chess community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C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Prioritized Recommendations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3200400"/>
                <a:gridCol w="2011680"/>
                <a:gridCol w="2286000"/>
              </a:tblGrid>
              <a:tr h="838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Timeline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ctr">
                        <a:defRPr sz="1300" b="1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Player Database &amp;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FFC8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6-9 months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 algn="ctr">
                        <a:defRPr sz="1300" b="1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Rating History &amp; Graphs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E6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3-4 months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 algn="ctr">
                        <a:defRPr sz="1300" b="1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Tournament Cross-Tables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4-5 months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 algn="ctr">
                        <a:defRPr sz="1300" b="1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Real-Time Updates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2-3 months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 algn="ctr">
                        <a:defRPr sz="1300" b="1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Mobile App (Optional)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6-12 months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C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Priority 1: Player Database &amp;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What: Searchable database of all rated players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Features:</a:t>
            </a:r>
          </a:p>
          <a:p>
            <a:pPr>
              <a:spcAft>
                <a:spcPts val="1200"/>
              </a:spcAft>
              <a:defRPr sz="1800"/>
            </a:pPr>
            <a:r>
              <a:t>  • Advanced search by name, rating range, region</a:t>
            </a:r>
          </a:p>
          <a:p>
            <a:pPr>
              <a:spcAft>
                <a:spcPts val="1200"/>
              </a:spcAft>
              <a:defRPr sz="1800"/>
            </a:pPr>
            <a:r>
              <a:t>  • Individual player profile pages (japanchess.org/players/[id])</a:t>
            </a:r>
          </a:p>
          <a:p>
            <a:pPr>
              <a:spcAft>
                <a:spcPts val="1200"/>
              </a:spcAft>
              <a:defRPr sz="1800"/>
            </a:pPr>
            <a:r>
              <a:t>  • Current ratings and membership status</a:t>
            </a:r>
          </a:p>
          <a:p>
            <a:pPr>
              <a:spcAft>
                <a:spcPts val="1200"/>
              </a:spcAft>
              <a:defRPr sz="1800"/>
            </a:pPr>
            <a:r>
              <a:t>  • Admin interface for data management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Timeline: 6-9 months</a:t>
            </a:r>
          </a:p>
          <a:p>
            <a:pPr>
              <a:spcAft>
                <a:spcPts val="1200"/>
              </a:spcAft>
              <a:defRPr sz="1800"/>
            </a:pPr>
            <a:r>
              <a:t>Effort: 3-4 developer-months</a:t>
            </a:r>
          </a:p>
          <a:p>
            <a:pPr>
              <a:spcAft>
                <a:spcPts val="1200"/>
              </a:spcAft>
              <a:defRPr sz="1800"/>
            </a:pPr>
            <a:r>
              <a:t>Impact: Critical — Foundation for all other features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Benefits: Immediate UX improvement, brings JCA to international standard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C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Priority 2: Rating History &amp;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What: Visual rating progression over time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Features:</a:t>
            </a:r>
          </a:p>
          <a:p>
            <a:pPr>
              <a:spcAft>
                <a:spcPts val="1200"/>
              </a:spcAft>
              <a:defRPr sz="1800"/>
            </a:pPr>
            <a:r>
              <a:t>  • Interactive line charts showing rating changes</a:t>
            </a:r>
          </a:p>
          <a:p>
            <a:pPr>
              <a:spcAft>
                <a:spcPts val="1200"/>
              </a:spcAft>
              <a:defRPr sz="1800"/>
            </a:pPr>
            <a:r>
              <a:t>  • Time period filters (6 months, 1 year, all-time)</a:t>
            </a:r>
          </a:p>
          <a:p>
            <a:pPr>
              <a:spcAft>
                <a:spcPts val="1200"/>
              </a:spcAft>
              <a:defRPr sz="1800"/>
            </a:pPr>
            <a:r>
              <a:t>  • Statistical summaries (peak rating, averages, volatility)</a:t>
            </a:r>
          </a:p>
          <a:p>
            <a:pPr>
              <a:spcAft>
                <a:spcPts val="1200"/>
              </a:spcAft>
              <a:defRPr sz="1800"/>
            </a:pPr>
            <a:r>
              <a:t>  • Historical data export to CSV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Timeline: 3-4 months</a:t>
            </a:r>
          </a:p>
          <a:p>
            <a:pPr>
              <a:spcAft>
                <a:spcPts val="1200"/>
              </a:spcAft>
              <a:defRPr sz="1800"/>
            </a:pPr>
            <a:r>
              <a:t>Effort: 2-3 developer-months</a:t>
            </a:r>
          </a:p>
          <a:p>
            <a:pPr>
              <a:spcAft>
                <a:spcPts val="1200"/>
              </a:spcAft>
              <a:defRPr sz="1800"/>
            </a:pPr>
            <a:r>
              <a:t>Impact: High — Player engagement and motivation tool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Benefits: Players track improvement, coaches analyze development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C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Priority 3: Tournament Cross-Tables Online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What: Detailed tournament results accessible via web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Features:</a:t>
            </a:r>
          </a:p>
          <a:p>
            <a:pPr>
              <a:spcAft>
                <a:spcPts val="1200"/>
              </a:spcAft>
              <a:defRPr sz="1800"/>
            </a:pPr>
            <a:r>
              <a:t>  • Dedicated page for each tournament</a:t>
            </a:r>
          </a:p>
          <a:p>
            <a:pPr>
              <a:spcAft>
                <a:spcPts val="1200"/>
              </a:spcAft>
              <a:defRPr sz="1800"/>
            </a:pPr>
            <a:r>
              <a:t>  • Round-by-round pairings and results</a:t>
            </a:r>
          </a:p>
          <a:p>
            <a:pPr>
              <a:spcAft>
                <a:spcPts val="1200"/>
              </a:spcAft>
              <a:defRPr sz="1800"/>
            </a:pPr>
            <a:r>
              <a:t>  • Game-by-game matrix with W/L/D outcomes</a:t>
            </a:r>
          </a:p>
          <a:p>
            <a:pPr>
              <a:spcAft>
                <a:spcPts val="1200"/>
              </a:spcAft>
              <a:defRPr sz="1800"/>
            </a:pPr>
            <a:r>
              <a:t>  • Links to opponent profiles</a:t>
            </a:r>
          </a:p>
          <a:p>
            <a:pPr>
              <a:spcAft>
                <a:spcPts val="1200"/>
              </a:spcAft>
              <a:defRPr sz="1800"/>
            </a:pPr>
            <a:r>
              <a:t>  • Export to PDF/Excel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Timeline: 4-5 months</a:t>
            </a:r>
          </a:p>
          <a:p>
            <a:pPr>
              <a:spcAft>
                <a:spcPts val="1200"/>
              </a:spcAft>
              <a:defRPr sz="1800"/>
            </a:pPr>
            <a:r>
              <a:t>Effort: 3-4 developer-months</a:t>
            </a:r>
          </a:p>
          <a:p>
            <a:pPr>
              <a:spcAft>
                <a:spcPts val="1200"/>
              </a:spcAft>
              <a:defRPr sz="1800"/>
            </a:pPr>
            <a:r>
              <a:t>Impact: Medium — Transparency and historical record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Benefits: Rating calculation transparency, dispute reduction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C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Implementation Approach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Option A: WordPress Integration (Recommended)</a:t>
            </a:r>
          </a:p>
          <a:p>
            <a:pPr>
              <a:spcAft>
                <a:spcPts val="1200"/>
              </a:spcAft>
              <a:defRPr sz="1800"/>
            </a:pPr>
            <a:r>
              <a:t>  ✅ Leverages existing infrastructure</a:t>
            </a:r>
          </a:p>
          <a:p>
            <a:pPr>
              <a:spcAft>
                <a:spcPts val="1200"/>
              </a:spcAft>
              <a:defRPr sz="1800"/>
            </a:pPr>
            <a:r>
              <a:t>  ✅ Familiar admin interface for JCA staff</a:t>
            </a:r>
          </a:p>
          <a:p>
            <a:pPr>
              <a:spcAft>
                <a:spcPts val="1200"/>
              </a:spcAft>
              <a:defRPr sz="1800"/>
            </a:pPr>
            <a:r>
              <a:t>  ✅ Lower learning curve and maintenance burden</a:t>
            </a:r>
          </a:p>
          <a:p>
            <a:pPr>
              <a:spcAft>
                <a:spcPts val="1200"/>
              </a:spcAft>
              <a:defRPr sz="1800"/>
            </a:pPr>
            <a:r>
              <a:t>  💰 $85K-115K for core features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Option B: Standalone Application</a:t>
            </a:r>
          </a:p>
          <a:p>
            <a:pPr>
              <a:spcAft>
                <a:spcPts val="1200"/>
              </a:spcAft>
              <a:defRPr sz="1800"/>
            </a:pPr>
            <a:r>
              <a:t>  ✅ Better performance and scalability</a:t>
            </a:r>
          </a:p>
          <a:p>
            <a:pPr>
              <a:spcAft>
                <a:spcPts val="1200"/>
              </a:spcAft>
              <a:defRPr sz="1800"/>
            </a:pPr>
            <a:r>
              <a:t>  ✅ More flexibility in features</a:t>
            </a:r>
          </a:p>
          <a:p>
            <a:pPr>
              <a:spcAft>
                <a:spcPts val="1200"/>
              </a:spcAft>
              <a:defRPr sz="1800"/>
            </a:pPr>
            <a:r>
              <a:t>  ⚠️ Requires separate hosting and expertise</a:t>
            </a:r>
          </a:p>
          <a:p>
            <a:pPr>
              <a:spcAft>
                <a:spcPts val="1200"/>
              </a:spcAft>
              <a:defRPr sz="1800"/>
            </a:pPr>
            <a:r>
              <a:t>  💰 $100K-140K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Option C: SaaS Solution (Quick Start)</a:t>
            </a:r>
          </a:p>
          <a:p>
            <a:pPr>
              <a:spcAft>
                <a:spcPts val="1200"/>
              </a:spcAft>
              <a:defRPr sz="1800"/>
            </a:pPr>
            <a:r>
              <a:t>  ✅ Fastest implementation (3-6 months)</a:t>
            </a:r>
          </a:p>
          <a:p>
            <a:pPr>
              <a:spcAft>
                <a:spcPts val="1200"/>
              </a:spcAft>
              <a:defRPr sz="1800"/>
            </a:pPr>
            <a:r>
              <a:t>  ⚠️ Limited customization, ongoing subscription</a:t>
            </a:r>
          </a:p>
          <a:p>
            <a:pPr>
              <a:spcAft>
                <a:spcPts val="1200"/>
              </a:spcAft>
              <a:defRPr sz="1800"/>
            </a:pPr>
            <a:r>
              <a:t>  💰 $5K-15K setup + $3.5K/year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C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Investment Summary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645920"/>
          <a:ext cx="73152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371600"/>
                <a:gridCol w="1645920"/>
                <a:gridCol w="1097280"/>
              </a:tblGrid>
              <a:tr h="768096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Option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Timeline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Budget (USD)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Annual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Core Features (Phases 1-3)</a:t>
                      </a:r>
                    </a:p>
                  </a:txBody>
                  <a:tcPr>
                    <a:solidFill>
                      <a:srgbClr val="C8FF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16 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$85K-115K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$7.5K</a:t>
                      </a:r>
                    </a:p>
                  </a:txBody>
                  <a:tcPr/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+ Mobile 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22 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$125K-175K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$12K</a:t>
                      </a:r>
                    </a:p>
                  </a:txBody>
                  <a:tcPr/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SaaS 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3-6 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$5K-15K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$3.5K</a:t>
                      </a:r>
                    </a:p>
                  </a:txBody>
                  <a:tcPr/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Standalone 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16 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$100K-140K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$15K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57607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400"/>
                </a:solidFill>
              </a:defRPr>
            </a:pPr>
            <a:r>
              <a:t>✅ Recommended: Core Features (WordPress Integration) — Best balance of cost and functionality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C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Recommended Implementation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Phase 1: Foundation (Months 1-6)</a:t>
            </a:r>
          </a:p>
          <a:p>
            <a:pPr>
              <a:spcAft>
                <a:spcPts val="1200"/>
              </a:spcAft>
              <a:defRPr sz="1800"/>
            </a:pPr>
            <a:r>
              <a:t>  • Database design and historical data migration</a:t>
            </a:r>
          </a:p>
          <a:p>
            <a:pPr>
              <a:spcAft>
                <a:spcPts val="1200"/>
              </a:spcAft>
              <a:defRPr sz="1800"/>
            </a:pPr>
            <a:r>
              <a:t>  • Player search and profile pages</a:t>
            </a:r>
          </a:p>
          <a:p>
            <a:pPr>
              <a:spcAft>
                <a:spcPts val="1200"/>
              </a:spcAft>
              <a:defRPr sz="1800"/>
            </a:pPr>
            <a:r>
              <a:t>  • Admin interface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Phase 2: Enhancement (Months 7-12)</a:t>
            </a:r>
          </a:p>
          <a:p>
            <a:pPr>
              <a:spcAft>
                <a:spcPts val="1200"/>
              </a:spcAft>
              <a:defRPr sz="1800"/>
            </a:pPr>
            <a:r>
              <a:t>  • Rating history graphs and visualization</a:t>
            </a:r>
          </a:p>
          <a:p>
            <a:pPr>
              <a:spcAft>
                <a:spcPts val="1200"/>
              </a:spcAft>
              <a:defRPr sz="1800"/>
            </a:pPr>
            <a:r>
              <a:t>  • Statistical summaries and export features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Phase 3: Advanced Features (Months 13-16)</a:t>
            </a:r>
          </a:p>
          <a:p>
            <a:pPr>
              <a:spcAft>
                <a:spcPts val="1200"/>
              </a:spcAft>
              <a:defRPr sz="1800"/>
            </a:pPr>
            <a:r>
              <a:t>  • Tournament cross-tables system</a:t>
            </a:r>
          </a:p>
          <a:p>
            <a:pPr>
              <a:spcAft>
                <a:spcPts val="1200"/>
              </a:spcAft>
              <a:defRPr sz="1800"/>
            </a:pPr>
            <a:r>
              <a:t>  • Automated rating calculations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Optional Phase 4: Mobile App (Months 17-22)</a:t>
            </a:r>
          </a:p>
          <a:p>
            <a:pPr>
              <a:spcAft>
                <a:spcPts val="1200"/>
              </a:spcAft>
              <a:defRPr sz="1800"/>
            </a:pPr>
            <a:r>
              <a:t>  • Native iOS/Android apps or Progressive Web App</a:t>
            </a:r>
          </a:p>
          <a:p>
            <a:pPr>
              <a:spcAft>
                <a:spcPts val="1200"/>
              </a:spcAft>
              <a:defRPr sz="1800"/>
            </a:pPr>
            <a:r>
              <a:t>  • Push notifications and offline access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C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Measuring Success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Launch Metrics (First 6 Months):</a:t>
            </a:r>
          </a:p>
          <a:p>
            <a:pPr>
              <a:spcAft>
                <a:spcPts val="1200"/>
              </a:spcAft>
              <a:defRPr sz="1800"/>
            </a:pPr>
            <a:r>
              <a:t>  • Player profile views: 500+ unique players/month</a:t>
            </a:r>
          </a:p>
          <a:p>
            <a:pPr>
              <a:spcAft>
                <a:spcPts val="1200"/>
              </a:spcAft>
              <a:defRPr sz="1800"/>
            </a:pPr>
            <a:r>
              <a:t>  • Search queries: 1,000+ searches/month</a:t>
            </a:r>
          </a:p>
          <a:p>
            <a:pPr>
              <a:spcAft>
                <a:spcPts val="1200"/>
              </a:spcAft>
              <a:defRPr sz="1800"/>
            </a:pPr>
            <a:r>
              <a:t>  • Return visitor rate: &gt;40%</a:t>
            </a:r>
          </a:p>
          <a:p>
            <a:pPr>
              <a:spcAft>
                <a:spcPts val="1200"/>
              </a:spcAft>
              <a:defRPr sz="1800"/>
            </a:pPr>
            <a:r>
              <a:t>  • Page load time: &lt;2 seconds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Long-Term Impact (1-2 Years):</a:t>
            </a:r>
          </a:p>
          <a:p>
            <a:pPr>
              <a:spcAft>
                <a:spcPts val="1200"/>
              </a:spcAft>
              <a:defRPr sz="1800"/>
            </a:pPr>
            <a:r>
              <a:t>  • Increased player registrations: +20% year-over-year</a:t>
            </a:r>
          </a:p>
          <a:p>
            <a:pPr>
              <a:spcAft>
                <a:spcPts val="1200"/>
              </a:spcAft>
              <a:defRPr sz="1800"/>
            </a:pPr>
            <a:r>
              <a:t>  • Improved tournament participation: +15% YoY</a:t>
            </a:r>
          </a:p>
          <a:p>
            <a:pPr>
              <a:spcAft>
                <a:spcPts val="1200"/>
              </a:spcAft>
              <a:defRPr sz="1800"/>
            </a:pPr>
            <a:r>
              <a:t>  • Reduced admin workload: -30% hours/month</a:t>
            </a:r>
          </a:p>
          <a:p>
            <a:pPr>
              <a:spcAft>
                <a:spcPts val="1200"/>
              </a:spcAft>
              <a:defRPr sz="1800"/>
            </a:pPr>
            <a:r>
              <a:t>  • User satisfaction: &gt;4.0/5.0 average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Organizational Impact:</a:t>
            </a:r>
          </a:p>
          <a:p>
            <a:pPr>
              <a:spcAft>
                <a:spcPts val="1200"/>
              </a:spcAft>
              <a:defRPr sz="1800"/>
            </a:pPr>
            <a:r>
              <a:t>  • Enhanced international recognition</a:t>
            </a:r>
          </a:p>
          <a:p>
            <a:pPr>
              <a:spcAft>
                <a:spcPts val="1200"/>
              </a:spcAft>
              <a:defRPr sz="1800"/>
            </a:pPr>
            <a:r>
              <a:t>  • Stronger chess community engagement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C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Risk Assessment &amp;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Key Risks: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1. Data Migration Errors</a:t>
            </a:r>
          </a:p>
          <a:p>
            <a:pPr>
              <a:spcAft>
                <a:spcPts val="1200"/>
              </a:spcAft>
              <a:defRPr sz="1800"/>
            </a:pPr>
            <a:r>
              <a:t>   → Rigorous validation, staged rollout, user verification period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2. Performance Issues at Scale</a:t>
            </a:r>
          </a:p>
          <a:p>
            <a:pPr>
              <a:spcAft>
                <a:spcPts val="1200"/>
              </a:spcAft>
              <a:defRPr sz="1800"/>
            </a:pPr>
            <a:r>
              <a:t>   → Load testing, caching strategy, CDN for static assets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3. Security Vulnerabilities</a:t>
            </a:r>
          </a:p>
          <a:p>
            <a:pPr>
              <a:spcAft>
                <a:spcPts val="1200"/>
              </a:spcAft>
              <a:defRPr sz="1800"/>
            </a:pPr>
            <a:r>
              <a:t>   → Security audit, penetration testing, regular updates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4. Low User Adoption</a:t>
            </a:r>
          </a:p>
          <a:p>
            <a:pPr>
              <a:spcAft>
                <a:spcPts val="1200"/>
              </a:spcAft>
              <a:defRPr sz="1800"/>
            </a:pPr>
            <a:r>
              <a:t>   → Beta program, clear communication, tutorial videos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5. Maintenance Burden</a:t>
            </a:r>
          </a:p>
          <a:p>
            <a:pPr>
              <a:spcAft>
                <a:spcPts val="1200"/>
              </a:spcAft>
              <a:defRPr sz="1800"/>
            </a:pPr>
            <a:r>
              <a:t>   → Comprehensive documentation, staff training, support contract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C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Learning from International Federations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English Chess Federation (ecfrating.org.uk)</a:t>
            </a:r>
          </a:p>
          <a:p>
            <a:pPr>
              <a:spcAft>
                <a:spcPts val="1200"/>
              </a:spcAft>
              <a:defRPr sz="1800"/>
            </a:pPr>
            <a:r>
              <a:t>  ✅ Clean UI, excellent rating visualizations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Chess Federation of Canada (chess.ca)</a:t>
            </a:r>
          </a:p>
          <a:p>
            <a:pPr>
              <a:spcAft>
                <a:spcPts val="1200"/>
              </a:spcAft>
              <a:defRPr sz="1800"/>
            </a:pPr>
            <a:r>
              <a:t>  ✅ Strong bilingual support (English/French)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Australian Chess Federation (ratings.auschess.org.au)</a:t>
            </a:r>
          </a:p>
          <a:p>
            <a:pPr>
              <a:spcAft>
                <a:spcPts val="1200"/>
              </a:spcAft>
              <a:defRPr sz="1800"/>
            </a:pPr>
            <a:r>
              <a:t>  ✅ Excellent data export and detailed analytics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FIDE Online (ratings.fide.com)</a:t>
            </a:r>
          </a:p>
          <a:p>
            <a:pPr>
              <a:spcAft>
                <a:spcPts val="1200"/>
              </a:spcAft>
              <a:defRPr sz="1800"/>
            </a:pPr>
            <a:r>
              <a:t>  ✅ Comprehensive global database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JCA can learn best practices from each:</a:t>
            </a:r>
          </a:p>
          <a:p>
            <a:pPr>
              <a:spcAft>
                <a:spcPts val="1200"/>
              </a:spcAft>
              <a:defRPr sz="1800"/>
            </a:pPr>
            <a:r>
              <a:t>  • Intuitive UI design</a:t>
            </a:r>
          </a:p>
          <a:p>
            <a:pPr>
              <a:spcAft>
                <a:spcPts val="1200"/>
              </a:spcAft>
              <a:defRPr sz="1800"/>
            </a:pPr>
            <a:r>
              <a:t>  • Bilingual excellence</a:t>
            </a:r>
          </a:p>
          <a:p>
            <a:pPr>
              <a:spcAft>
                <a:spcPts val="1200"/>
              </a:spcAft>
              <a:defRPr sz="1800"/>
            </a:pPr>
            <a:r>
              <a:t>  • Robust data export</a:t>
            </a:r>
          </a:p>
          <a:p>
            <a:pPr>
              <a:spcAft>
                <a:spcPts val="1200"/>
              </a:spcAft>
              <a:defRPr sz="1800"/>
            </a:pPr>
            <a:r>
              <a:t>  • Balance simplicity with power features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C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Recommended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Month 1: Internal Assessment</a:t>
            </a:r>
          </a:p>
          <a:p>
            <a:pPr>
              <a:spcAft>
                <a:spcPts val="1200"/>
              </a:spcAft>
              <a:defRPr sz="1800"/>
            </a:pPr>
            <a:r>
              <a:t>  • Form website modernization committee</a:t>
            </a:r>
          </a:p>
          <a:p>
            <a:pPr>
              <a:spcAft>
                <a:spcPts val="1200"/>
              </a:spcAft>
              <a:defRPr sz="1800"/>
            </a:pPr>
            <a:r>
              <a:t>  • Review analysis with technical stakeholders</a:t>
            </a:r>
          </a:p>
          <a:p>
            <a:pPr>
              <a:spcAft>
                <a:spcPts val="1200"/>
              </a:spcAft>
              <a:defRPr sz="1800"/>
            </a:pPr>
            <a:r>
              <a:t>  • Assess budget and priorities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Month 2: Stakeholder Consultation</a:t>
            </a:r>
          </a:p>
          <a:p>
            <a:pPr>
              <a:spcAft>
                <a:spcPts val="1200"/>
              </a:spcAft>
              <a:defRPr sz="1800"/>
            </a:pPr>
            <a:r>
              <a:t>  • Survey active players on desired features</a:t>
            </a:r>
          </a:p>
          <a:p>
            <a:pPr>
              <a:spcAft>
                <a:spcPts val="1200"/>
              </a:spcAft>
              <a:defRPr sz="1800"/>
            </a:pPr>
            <a:r>
              <a:t>  • Consult tournament organizers</a:t>
            </a:r>
          </a:p>
          <a:p>
            <a:pPr>
              <a:spcAft>
                <a:spcPts val="1200"/>
              </a:spcAft>
              <a:defRPr sz="1800"/>
            </a:pPr>
            <a:r>
              <a:t>  • Seek input from top players and coaches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Month 3: Decision &amp; Planning</a:t>
            </a:r>
          </a:p>
          <a:p>
            <a:pPr>
              <a:spcAft>
                <a:spcPts val="1200"/>
              </a:spcAft>
              <a:defRPr sz="1800"/>
            </a:pPr>
            <a:r>
              <a:t>  • Select implementation approach</a:t>
            </a:r>
          </a:p>
          <a:p>
            <a:pPr>
              <a:spcAft>
                <a:spcPts val="1200"/>
              </a:spcAft>
              <a:defRPr sz="1800"/>
            </a:pPr>
            <a:r>
              <a:t>  • Define scope and timeline</a:t>
            </a:r>
          </a:p>
          <a:p>
            <a:pPr>
              <a:spcAft>
                <a:spcPts val="1200"/>
              </a:spcAft>
              <a:defRPr sz="1800"/>
            </a:pPr>
            <a:r>
              <a:t>  • Issue RFP for development firms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Months 4-6: Vendor Selection &amp; Kickoff</a:t>
            </a:r>
          </a:p>
          <a:p>
            <a:pPr>
              <a:spcAft>
                <a:spcPts val="1200"/>
              </a:spcAft>
              <a:defRPr sz="1800"/>
            </a:pPr>
            <a:r>
              <a:t>  • Review proposals and select developer</a:t>
            </a:r>
          </a:p>
          <a:p>
            <a:pPr>
              <a:spcAft>
                <a:spcPts val="1200"/>
              </a:spcAft>
              <a:defRPr sz="1800"/>
            </a:pPr>
            <a:r>
              <a:t>  • Begin Phase 1 development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C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Conclusion: Building the Future of Chess in Japan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Current Reality:</a:t>
            </a:r>
          </a:p>
          <a:p>
            <a:pPr>
              <a:spcAft>
                <a:spcPts val="1200"/>
              </a:spcAft>
              <a:defRPr sz="1800"/>
            </a:pPr>
            <a:r>
              <a:t>  • JCA website serves basic informational needs</a:t>
            </a:r>
          </a:p>
          <a:p>
            <a:pPr>
              <a:spcAft>
                <a:spcPts val="1200"/>
              </a:spcAft>
              <a:defRPr sz="1800"/>
            </a:pPr>
            <a:r>
              <a:t>  • Lacks modern database and player-facing tools</a:t>
            </a:r>
          </a:p>
          <a:p>
            <a:pPr>
              <a:spcAft>
                <a:spcPts val="1200"/>
              </a:spcAft>
              <a:defRPr sz="1800"/>
            </a:pPr>
            <a:r>
              <a:t>  • Falls behind international federation standards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Future Vision:</a:t>
            </a:r>
          </a:p>
          <a:p>
            <a:pPr>
              <a:spcAft>
                <a:spcPts val="1200"/>
              </a:spcAft>
              <a:defRPr sz="1800"/>
            </a:pPr>
            <a:r>
              <a:t>  • Empower players to track their chess journey</a:t>
            </a:r>
          </a:p>
          <a:p>
            <a:pPr>
              <a:spcAft>
                <a:spcPts val="1200"/>
              </a:spcAft>
              <a:defRPr sz="1800"/>
            </a:pPr>
            <a:r>
              <a:t>  • Provide organizers with professional-grade tools</a:t>
            </a:r>
          </a:p>
          <a:p>
            <a:pPr>
              <a:spcAft>
                <a:spcPts val="1200"/>
              </a:spcAft>
              <a:defRPr sz="1800"/>
            </a:pPr>
            <a:r>
              <a:t>  • Enhance JCA's reputation internationally</a:t>
            </a:r>
          </a:p>
          <a:p>
            <a:pPr>
              <a:spcAft>
                <a:spcPts val="1200"/>
              </a:spcAft>
              <a:defRPr sz="1800"/>
            </a:pPr>
            <a:r>
              <a:t>  • Attract and retain next generation of players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Investment: $85K-115K over 16 months</a:t>
            </a:r>
          </a:p>
          <a:p>
            <a:pPr>
              <a:spcAft>
                <a:spcPts val="1200"/>
              </a:spcAft>
              <a:defRPr sz="1800"/>
            </a:pPr>
            <a:r>
              <a:t>Return: Modern, world-class chess federation website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The time to modernize is now.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DAA520"/>
                </a:solidFill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08080"/>
                </a:solidFill>
              </a:defRPr>
            </a:pPr>
            <a:r>
              <a:t>Analysis prepared for Nick Tsai | March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