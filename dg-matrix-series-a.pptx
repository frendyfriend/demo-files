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DG Matrix Series A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Strategic Investment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F7F7F"/>
                </a:solidFill>
              </a:defRPr>
            </a:pPr>
            <a:r>
              <a:t>Mitsubishi Heavy Industries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Company Overview: DG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80B9"/>
                </a:solidFill>
              </a:defRPr>
            </a:pPr>
            <a:r>
              <a:t>Power Electronics Innovator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Developer of Interport™ Platform - first multi-port solid-state transformer (SST) solution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Software-driven energy platform addressing power infrastructure bottlenecks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Enables MW-scale power deployment in weeks vs. years with traditional systems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Technology Advantages: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Modular, scalable architecture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Software-defined power distribution with real-time adaptation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Galvanic isolation and pulse-load mitigation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Multi-port power flow capability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Target Markets: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AI Data Centers (addressing power capacity constraints)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Commercial &amp; Industrial electrification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EV fleet charging infrastructure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Grid modernization and microgrids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Series A Investment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80B9"/>
                </a:solidFill>
              </a:defRPr>
            </a:pPr>
            <a:r>
              <a:t>Transaction Summary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Round: Series A Funding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Stage: Growth-stage power electronics company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Investor Consortium: Strategic and financial investors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MHI Role: Strategic investor and technology partner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Use of Funds: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Scale manufacturing operations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Accelerate product development and testing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Expand deployment in AI datacenter and industrial markets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Strengthen supply chain and quality systems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Company Traction: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Multiple MW-scale customer deployments underway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Duke Energy Innovation Award (March 2025)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Cleantech Top 100 recognition (January 2026)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NextEra Energy finalist (Top 6 from 500+ applicants)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Strategic Rationale for MHI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80B9"/>
                </a:solidFill>
              </a:defRPr>
            </a:pPr>
            <a:r>
              <a:t>Alignment with MHI Strategic Priorities</a:t>
            </a: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Energy Transition Leadership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Next-generation power infrastructure technology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Enables faster decarbonization through electrification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Complements MHI's existing energy systems portfolio</a:t>
            </a: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Market Expansion Opportunity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Access to high-growth AI datacenter power market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Industrial electrification aligns with MHI customer base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Grid modernization synergies with power systems business</a:t>
            </a: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Technology Synergies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Advanced power electronics and control systems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Potential integration with MHI turbine and generator systems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Software-defined infrastructure expertise</a:t>
            </a: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Competitive Positioning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Early access to disruptive solid-state transformer technology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Partnership with proven leadership team (ex-Siemens, GE, Smart Wires)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First-mover advantage in SST market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Interport™ Platform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980B9"/>
                </a:solidFill>
              </a:defRPr>
            </a:pPr>
            <a:r>
              <a:t>Core Innovation: Multi-Port Solid-State Transformer</a:t>
            </a: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</a:defRPr>
            </a:pPr>
            <a:r>
              <a:t>Key Differentiators vs. Traditional Transformers: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Software-defined power flow with real-time optimization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Multi-port architecture (vs. traditional 2-port)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Modular, scalable design (MW-scale by paralleling units)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Galvanic isolation and power quality enhancement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10-100x faster deployment timeline</a:t>
            </a: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</a:defRPr>
            </a:pPr>
            <a:r>
              <a:t>Product Solutions: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Interport Cell Series: MV-AC to HV-DC conversion (12-34.5 kV)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Interport Flex Series: Multi-source integration, paralleling for MW-scale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SideCar Solution: Co-located with IT loads for pulse mitigation</a:t>
            </a: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</a:defRPr>
            </a:pPr>
            <a:r>
              <a:t>Competitive Advantages: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First commercially deployed multi-port SST platform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30,000+ hours reliability testing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Aerospace-grade design standards</a:t>
            </a:r>
          </a:p>
          <a:p>
            <a:pPr lvl="1"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• Founded by world-leading SST researcher (700+ publications, 12 patents)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80B9"/>
                </a:solidFill>
              </a:defRPr>
            </a:pPr>
            <a:r>
              <a:t>Investment Highlights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Strategic fit with MHI's energy infrastructure portfolio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Access to disruptive solid-state transformer technology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High-growth market exposure (AI datacenters, industrial electrification)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Proven technology with customer deployments underway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Strong technical team with deep industry experience</a:t>
            </a: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Recommended Next Steps: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Technical deep-dive session with DG Matrix CTO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Site visit to active deployment location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Explore technology integration opportunities with MHI products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Establish regular progress review cadence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Identify potential customer introduction opportunities</a:t>
            </a: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Key Risks to Monitor: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Market adoption pace for SST technology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Manufacturing scale-up execution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Competition from traditional transformer manufacturers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